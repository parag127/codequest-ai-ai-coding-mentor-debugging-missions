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53358"/>
                </a:solidFill>
                <a:latin typeface="Segoe UI"/>
              </a:defRPr>
            </a:pPr>
            <a:r>
              <a:t>A.I.R.S • VORTEXA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7213D"/>
                </a:solidFill>
                <a:latin typeface="Trebuchet MS"/>
              </a:defRPr>
            </a:pPr>
            <a:r>
              <a:t>VORTEXA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5B5B"/>
                </a:solidFill>
                <a:latin typeface="Segoe UI"/>
              </a:defRPr>
            </a:pPr>
            <a:r>
              <a:t>12 HRS HACKATHON  |  POWERED BY A.I.R.S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4114800" cy="64008"/>
          </a:xfrm>
          <a:prstGeom prst="rect">
            <a:avLst/>
          </a:prstGeom>
          <a:solidFill>
            <a:srgbClr val="E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100584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7213D"/>
                </a:solidFill>
                <a:latin typeface="Segoe UI"/>
              </a:rPr>
              <a:t>DOMAIN &amp; NO : </a:t>
            </a:r>
            <a:r>
              <a:rPr sz="1600" b="1">
                <a:solidFill>
                  <a:srgbClr val="E25B5B"/>
                </a:solidFill>
                <a:latin typeface="Segoe UI"/>
              </a:rPr>
              <a:t>1, C-01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7213D"/>
                </a:solidFill>
                <a:latin typeface="Segoe UI"/>
              </a:rPr>
              <a:t>PROBLEM STATEMENT TITLE : </a:t>
            </a:r>
            <a:r>
              <a:rPr sz="1800" b="1">
                <a:solidFill>
                  <a:srgbClr val="253358"/>
                </a:solidFill>
                <a:latin typeface="Segoe UI"/>
              </a:rPr>
              <a:t>DebugMate — AI Coding Mentor &amp; Containerized Debugging Missions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7213D"/>
                </a:solidFill>
                <a:latin typeface="Segoe UI"/>
              </a:rPr>
              <a:t>TEAM NAME : </a:t>
            </a:r>
            <a:r>
              <a:rPr sz="1600" b="1">
                <a:solidFill>
                  <a:srgbClr val="253358"/>
                </a:solidFill>
                <a:latin typeface="Segoe UI"/>
              </a:rPr>
              <a:t>DebugMate Warriors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7213D"/>
                </a:solidFill>
                <a:latin typeface="Segoe UI"/>
              </a:rPr>
              <a:t>TEAM ID : </a:t>
            </a:r>
            <a:r>
              <a:rPr sz="1600" b="1">
                <a:solidFill>
                  <a:srgbClr val="E25B5B"/>
                </a:solidFill>
                <a:latin typeface="Segoe UI"/>
              </a:rPr>
              <a:t>C-01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53358"/>
                </a:solidFill>
                <a:latin typeface="Segoe UI"/>
              </a:defRPr>
            </a:pPr>
            <a:r>
              <a:t>A.I.R.S • VORTEXA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213D"/>
                </a:solidFill>
                <a:latin typeface="Trebuchet MS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926080" cy="54864"/>
          </a:xfrm>
          <a:prstGeom prst="rect">
            <a:avLst/>
          </a:prstGeom>
          <a:solidFill>
            <a:srgbClr val="E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6499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64992" cy="109728"/>
          </a:xfrm>
          <a:prstGeom prst="roundRect">
            <a:avLst/>
          </a:prstGeom>
          <a:solidFill>
            <a:srgbClr val="E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90779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213D"/>
                </a:solidFill>
                <a:latin typeface="Trebuchet MS"/>
              </a:defRPr>
            </a:pPr>
            <a:r>
              <a:t>🚨 The Copy-Paste Illusion</a:t>
            </a:r>
          </a:p>
          <a:p>
            <a:pPr>
              <a:spcAft>
                <a:spcPts val="1400"/>
              </a:spcAft>
              <a:defRPr sz="1100" i="1">
                <a:solidFill>
                  <a:srgbClr val="E25B5B"/>
                </a:solidFill>
                <a:latin typeface="Segoe UI"/>
              </a:defRPr>
            </a:pPr>
            <a:r>
              <a:t>Generative AI Over-Reliance</a:t>
            </a:r>
          </a:p>
          <a:p>
            <a:pPr>
              <a:spcAft>
                <a:spcPts val="8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85%+ of CS students use LLMs (ChatGPT/Copilot) to auto-generate code without understanding failure modes.</a:t>
            </a:r>
          </a:p>
          <a:p>
            <a:pPr>
              <a:spcAft>
                <a:spcPts val="8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Syntax memorization masks zero comprehension of runtime state.</a:t>
            </a:r>
          </a:p>
          <a:p>
            <a:pPr>
              <a:spcAft>
                <a:spcPts val="8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When solutions break in production, beginners panic and cannot isolate root causes.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371600"/>
            <a:ext cx="336499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98264" y="1371600"/>
            <a:ext cx="3364992" cy="109728"/>
          </a:xfrm>
          <a:prstGeom prst="roundRect">
            <a:avLst/>
          </a:prstGeom>
          <a:solidFill>
            <a:srgbClr val="17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600200"/>
            <a:ext cx="290779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213D"/>
                </a:solidFill>
                <a:latin typeface="Trebuchet MS"/>
              </a:defRPr>
            </a:pPr>
            <a:r>
              <a:t>📉 The Debugging Deficit</a:t>
            </a:r>
          </a:p>
          <a:p>
            <a:pPr>
              <a:spcAft>
                <a:spcPts val="1400"/>
              </a:spcAft>
              <a:defRPr sz="1100" i="1">
                <a:solidFill>
                  <a:srgbClr val="17213D"/>
                </a:solidFill>
                <a:latin typeface="Segoe UI"/>
              </a:defRPr>
            </a:pPr>
            <a:r>
              <a:t>Classroom vs Industry Gap</a:t>
            </a:r>
          </a:p>
          <a:p>
            <a:pPr>
              <a:spcAft>
                <a:spcPts val="8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Industry engineers spend 70%+ of time reading, diagnosing, and fixing existing code.</a:t>
            </a:r>
          </a:p>
          <a:p>
            <a:pPr>
              <a:spcAft>
                <a:spcPts val="8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Traditional platforms (LeetCode, HackerRank) only test whole solution creation.</a:t>
            </a:r>
          </a:p>
          <a:p>
            <a:pPr>
              <a:spcAft>
                <a:spcPts val="8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Zero focus on systematic debugging heuristics (boundary checks, null pointer guards, off-by-one errors).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371600"/>
            <a:ext cx="336499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371600"/>
            <a:ext cx="3364992" cy="109728"/>
          </a:xfrm>
          <a:prstGeom prst="roundRect">
            <a:avLst/>
          </a:prstGeom>
          <a:solidFill>
            <a:srgbClr val="25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600200"/>
            <a:ext cx="290779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213D"/>
                </a:solidFill>
                <a:latin typeface="Trebuchet MS"/>
              </a:defRPr>
            </a:pPr>
            <a:r>
              <a:t>🔒 Security &amp; Isolation Void</a:t>
            </a:r>
          </a:p>
          <a:p>
            <a:pPr>
              <a:spcAft>
                <a:spcPts val="1400"/>
              </a:spcAft>
              <a:defRPr sz="1100" i="1">
                <a:solidFill>
                  <a:srgbClr val="253358"/>
                </a:solidFill>
                <a:latin typeface="Segoe UI"/>
              </a:defRPr>
            </a:pPr>
            <a:r>
              <a:t>Untrusted Code Execution</a:t>
            </a:r>
          </a:p>
          <a:p>
            <a:pPr>
              <a:spcAft>
                <a:spcPts val="8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Executing learner code directly on servers risks runaway loops, CPU spikes, and host compromise.</a:t>
            </a:r>
          </a:p>
          <a:p>
            <a:pPr>
              <a:spcAft>
                <a:spcPts val="8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Standard web practice platforms leak test cases to the browser DOM, allowing inspection exploits.</a:t>
            </a:r>
          </a:p>
          <a:p>
            <a:pPr>
              <a:spcAft>
                <a:spcPts val="8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Need for air-tight container quotas with obfuscated hidden verification.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698480" cy="777240"/>
          </a:xfrm>
          <a:prstGeom prst="roundRect">
            <a:avLst/>
          </a:prstGeom>
          <a:solidFill>
            <a:srgbClr val="17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🎯 Core Dilemma: Platforms test answers, not thinking. Students learn to copy syntax, not diagnose root causes.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53358"/>
                </a:solidFill>
                <a:latin typeface="Segoe UI"/>
              </a:defRPr>
            </a:pPr>
            <a:r>
              <a:t>A.I.R.S • VORTEXA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213D"/>
                </a:solidFill>
                <a:latin typeface="Trebuchet MS"/>
              </a:defRPr>
            </a:pPr>
            <a:r>
              <a:t>IDEA TITLE / 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926080" cy="54864"/>
          </a:xfrm>
          <a:prstGeom prst="rect">
            <a:avLst/>
          </a:prstGeom>
          <a:solidFill>
            <a:srgbClr val="E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731520"/>
          </a:xfrm>
          <a:prstGeom prst="roundRect">
            <a:avLst/>
          </a:prstGeom>
          <a:solidFill>
            <a:srgbClr val="17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DebugMate: The Anti-Copying AI Debugging &amp; System Telemetry Mentor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193792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47365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213D"/>
                </a:solidFill>
                <a:latin typeface="Trebuchet MS"/>
              </a:defRPr>
            </a:pPr>
            <a:r>
              <a:t>🧠  Explain-Before-You-Fix Cognitive Gate</a:t>
            </a:r>
          </a:p>
          <a:p>
            <a:pPr>
              <a:lnSpc>
                <a:spcPct val="120000"/>
              </a:lnSpc>
              <a:defRPr sz="1100">
                <a:solidFill>
                  <a:srgbClr val="222B38"/>
                </a:solidFill>
                <a:latin typeface="Segoe UI"/>
              </a:defRPr>
            </a:pPr>
            <a:r>
              <a:t>Mandatory hypothesis formulation before test execution. Learners must explain the bug mechanics in natural language, eliminating random guess-and-check coding.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240280"/>
            <a:ext cx="5193792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423160"/>
            <a:ext cx="47365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213D"/>
                </a:solidFill>
                <a:latin typeface="Trebuchet MS"/>
              </a:defRPr>
            </a:pPr>
            <a:r>
              <a:t>🪜  3-Tier Progressive Hint Ladder</a:t>
            </a:r>
          </a:p>
          <a:p>
            <a:pPr>
              <a:lnSpc>
                <a:spcPct val="120000"/>
              </a:lnSpc>
              <a:defRPr sz="1100">
                <a:solidFill>
                  <a:srgbClr val="222B38"/>
                </a:solidFill>
                <a:latin typeface="Segoe UI"/>
              </a:defRPr>
            </a:pPr>
            <a:r>
              <a:t>Tier 1: Conceptual Clue → Tier 2: Code Location Pointer → Tier 3: Micro-Fix Logic Blueprint. Anti-spoiling design ensures AI never outputs complete copyable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193792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47365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213D"/>
                </a:solidFill>
                <a:latin typeface="Trebuchet MS"/>
              </a:defRPr>
            </a:pPr>
            <a:r>
              <a:t>🎯  Bug Fingerprint Profiler &amp; Radar</a:t>
            </a:r>
          </a:p>
          <a:p>
            <a:pPr>
              <a:lnSpc>
                <a:spcPct val="120000"/>
              </a:lnSpc>
              <a:defRPr sz="1100">
                <a:solidFill>
                  <a:srgbClr val="222B38"/>
                </a:solidFill>
                <a:latin typeface="Segoe UI"/>
              </a:defRPr>
            </a:pPr>
            <a:r>
              <a:t>Tracks recurring developer mistakes (Off-by-One Traversal, Null Pointer Safety, String Mutation) to build a longitudinal cognitive diagnostic profile.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4343400"/>
            <a:ext cx="5193792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4526280"/>
            <a:ext cx="47365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213D"/>
                </a:solidFill>
                <a:latin typeface="Trebuchet MS"/>
              </a:defRPr>
            </a:pPr>
            <a:r>
              <a:t>⚡  Dual-Runtime Parity &amp; Visual Stepper</a:t>
            </a:r>
          </a:p>
          <a:p>
            <a:pPr>
              <a:lnSpc>
                <a:spcPct val="120000"/>
              </a:lnSpc>
              <a:defRPr sz="1100">
                <a:solidFill>
                  <a:srgbClr val="222B38"/>
                </a:solidFill>
                <a:latin typeface="Segoe UI"/>
              </a:defRPr>
            </a:pPr>
            <a:r>
              <a:t>Identical pedagogical rigor across Java 21 LTS &amp; JavaScript ES2024. Features an interactive memory tape stepper visualizing array indices and stack pointers.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53358"/>
                </a:solidFill>
                <a:latin typeface="Segoe UI"/>
              </a:defRPr>
            </a:pPr>
            <a:r>
              <a:t>A.I.R.S • VORTEXA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213D"/>
                </a:solidFill>
                <a:latin typeface="Trebuchet MS"/>
              </a:defRPr>
            </a:pPr>
            <a: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926080" cy="54864"/>
          </a:xfrm>
          <a:prstGeom prst="rect">
            <a:avLst/>
          </a:prstGeom>
          <a:solidFill>
            <a:srgbClr val="E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64992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600200"/>
            <a:ext cx="2907792" cy="365760"/>
          </a:xfrm>
          <a:prstGeom prst="roundRect">
            <a:avLst/>
          </a:prstGeom>
          <a:solidFill>
            <a:srgbClr val="17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907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29077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213D"/>
                </a:solidFill>
                <a:latin typeface="Trebuchet MS"/>
              </a:defRPr>
            </a:pPr>
            <a:r>
              <a:t>Layer 1: Skilotech Enterprise UI</a:t>
            </a:r>
          </a:p>
          <a:p>
            <a:pPr>
              <a:spcAft>
                <a:spcPts val="1200"/>
              </a:spcAft>
              <a:defRPr sz="1050" b="1">
                <a:solidFill>
                  <a:srgbClr val="E25B5B"/>
                </a:solidFill>
                <a:latin typeface="Segoe UI"/>
              </a:defRPr>
            </a:pPr>
            <a:r>
              <a:t>React 18  |  Vite  |  Vanilla CSS System</a:t>
            </a:r>
          </a:p>
          <a:p>
            <a:pPr>
              <a:spcAft>
                <a:spcPts val="700"/>
              </a:spcAft>
              <a:defRPr sz="1100">
                <a:solidFill>
                  <a:srgbClr val="222B38"/>
                </a:solidFill>
                <a:latin typeface="Segoe UI"/>
              </a:defRPr>
            </a:pPr>
            <a:r>
              <a:t>✔ Dual-Theme Engine (Midnight Cyber 🌙 &amp; Studio Canvas ☀️) with localStorage sync.</a:t>
            </a:r>
          </a:p>
          <a:p>
            <a:pPr>
              <a:spcAft>
                <a:spcPts val="700"/>
              </a:spcAft>
              <a:defRPr sz="1100">
                <a:solidFill>
                  <a:srgbClr val="222B38"/>
                </a:solidFill>
                <a:latin typeface="Segoe UI"/>
              </a:defRPr>
            </a:pPr>
            <a:r>
              <a:t>✔ macOS IDE Frame with tabbed Java/JS code switcher &amp; syntax highlighters.</a:t>
            </a:r>
          </a:p>
          <a:p>
            <a:pPr>
              <a:spcAft>
                <a:spcPts val="700"/>
              </a:spcAft>
              <a:defRPr sz="1100">
                <a:solidFill>
                  <a:srgbClr val="222B38"/>
                </a:solidFill>
                <a:latin typeface="Segoe UI"/>
              </a:defRPr>
            </a:pPr>
            <a:r>
              <a:t>✔ Visual Execution Stepper visualizing array cells &amp; index bounds in real-time.</a:t>
            </a:r>
          </a:p>
          <a:p>
            <a:pPr>
              <a:spcAft>
                <a:spcPts val="700"/>
              </a:spcAft>
              <a:defRPr sz="1100">
                <a:solidFill>
                  <a:srgbClr val="222B38"/>
                </a:solidFill>
                <a:latin typeface="Segoe UI"/>
              </a:defRPr>
            </a:pPr>
            <a:r>
              <a:t>✔ Dedicated Full-Screen Login Portal with 1-click hackathon role authentication.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371600"/>
            <a:ext cx="3364992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26864" y="1600200"/>
            <a:ext cx="2907792" cy="365760"/>
          </a:xfrm>
          <a:prstGeom prst="roundRect">
            <a:avLst/>
          </a:prstGeom>
          <a:solidFill>
            <a:srgbClr val="17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600200"/>
            <a:ext cx="2907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BACKEND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103120"/>
            <a:ext cx="29077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213D"/>
                </a:solidFill>
                <a:latin typeface="Trebuchet MS"/>
              </a:defRPr>
            </a:pPr>
            <a:r>
              <a:t>Layer 2: Orchestration &amp; Telemetry API</a:t>
            </a:r>
          </a:p>
          <a:p>
            <a:pPr>
              <a:spcAft>
                <a:spcPts val="1200"/>
              </a:spcAft>
              <a:defRPr sz="1050" b="1">
                <a:solidFill>
                  <a:srgbClr val="E25B5B"/>
                </a:solidFill>
                <a:latin typeface="Segoe UI"/>
              </a:defRPr>
            </a:pPr>
            <a:r>
              <a:t>Node.js 20 LTS  |  Express REST API</a:t>
            </a:r>
          </a:p>
          <a:p>
            <a:pPr>
              <a:spcAft>
                <a:spcPts val="700"/>
              </a:spcAft>
              <a:defRPr sz="1100">
                <a:solidFill>
                  <a:srgbClr val="222B38"/>
                </a:solidFill>
                <a:latin typeface="Segoe UI"/>
              </a:defRPr>
            </a:pPr>
            <a:r>
              <a:t>✔ Dynamic system telemetry probes: Heap memory, uptime, latency counter.</a:t>
            </a:r>
          </a:p>
          <a:p>
            <a:pPr>
              <a:spcAft>
                <a:spcPts val="700"/>
              </a:spcAft>
              <a:defRPr sz="1100">
                <a:solidFill>
                  <a:srgbClr val="222B38"/>
                </a:solidFill>
                <a:latin typeface="Segoe UI"/>
              </a:defRPr>
            </a:pPr>
            <a:r>
              <a:t>✔ Sprint Items CRUD pipeline (/api/items) with optimistic UI updates.</a:t>
            </a:r>
          </a:p>
          <a:p>
            <a:pPr>
              <a:spcAft>
                <a:spcPts val="700"/>
              </a:spcAft>
              <a:defRPr sz="1100">
                <a:solidFill>
                  <a:srgbClr val="222B38"/>
                </a:solidFill>
                <a:latin typeface="Segoe UI"/>
              </a:defRPr>
            </a:pPr>
            <a:r>
              <a:t>✔ Cognitive Hypothesis Validation Engine analyzing student explanation depth.</a:t>
            </a:r>
          </a:p>
          <a:p>
            <a:pPr>
              <a:spcAft>
                <a:spcPts val="700"/>
              </a:spcAft>
              <a:defRPr sz="1100">
                <a:solidFill>
                  <a:srgbClr val="222B38"/>
                </a:solidFill>
                <a:latin typeface="Segoe UI"/>
              </a:defRPr>
            </a:pPr>
            <a:r>
              <a:t>✔ 6 Automated Unit Tests with 100% pass rate in sub-1.3 seconds.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371600"/>
            <a:ext cx="3364992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93608" y="1600200"/>
            <a:ext cx="2907792" cy="365760"/>
          </a:xfrm>
          <a:prstGeom prst="roundRect">
            <a:avLst/>
          </a:prstGeom>
          <a:solidFill>
            <a:srgbClr val="17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600200"/>
            <a:ext cx="2907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SECURITY &amp; DEVOPS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03120"/>
            <a:ext cx="29077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213D"/>
                </a:solidFill>
                <a:latin typeface="Trebuchet MS"/>
              </a:defRPr>
            </a:pPr>
            <a:r>
              <a:t>Layer 3: Zero-Trust Sandbox Isolation</a:t>
            </a:r>
          </a:p>
          <a:p>
            <a:pPr>
              <a:spcAft>
                <a:spcPts val="1200"/>
              </a:spcAft>
              <a:defRPr sz="1050" b="1">
                <a:solidFill>
                  <a:srgbClr val="E25B5B"/>
                </a:solidFill>
                <a:latin typeface="Segoe UI"/>
              </a:defRPr>
            </a:pPr>
            <a:r>
              <a:t>Docker Compose  |  Alpine Linux  |  Non-Root Security</a:t>
            </a:r>
          </a:p>
          <a:p>
            <a:pPr>
              <a:spcAft>
                <a:spcPts val="700"/>
              </a:spcAft>
              <a:defRPr sz="1100">
                <a:solidFill>
                  <a:srgbClr val="222B38"/>
                </a:solidFill>
                <a:latin typeface="Segoe UI"/>
              </a:defRPr>
            </a:pPr>
            <a:r>
              <a:t>✔ Non-Root User (UID 1001) preventing container privilege escalation.</a:t>
            </a:r>
          </a:p>
          <a:p>
            <a:pPr>
              <a:spcAft>
                <a:spcPts val="700"/>
              </a:spcAft>
              <a:defRPr sz="1100">
                <a:solidFill>
                  <a:srgbClr val="222B38"/>
                </a:solidFill>
                <a:latin typeface="Segoe UI"/>
              </a:defRPr>
            </a:pPr>
            <a:r>
              <a:t>✔ Strict Resource Ceilings: 128MB RAM quota, 2000ms wall-clock timeout.</a:t>
            </a:r>
          </a:p>
          <a:p>
            <a:pPr>
              <a:spcAft>
                <a:spcPts val="700"/>
              </a:spcAft>
              <a:defRPr sz="1100">
                <a:solidFill>
                  <a:srgbClr val="222B38"/>
                </a:solidFill>
                <a:latin typeface="Segoe UI"/>
              </a:defRPr>
            </a:pPr>
            <a:r>
              <a:t>✔ Obfuscated Test Shield: Hidden edge-case tests never leak to browser DOM or prompt.</a:t>
            </a:r>
          </a:p>
          <a:p>
            <a:pPr>
              <a:spcAft>
                <a:spcPts val="700"/>
              </a:spcAft>
              <a:defRPr sz="1100">
                <a:solidFill>
                  <a:srgbClr val="222B38"/>
                </a:solidFill>
                <a:latin typeface="Segoe UI"/>
              </a:defRPr>
            </a:pPr>
            <a:r>
              <a:t>✔ Isolated Bridge Network (hackathon-network) with automated health probes.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53358"/>
                </a:solidFill>
                <a:latin typeface="Segoe UI"/>
              </a:defRPr>
            </a:pPr>
            <a:r>
              <a:t>A.I.R.S • VORTEXA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213D"/>
                </a:solidFill>
                <a:latin typeface="Trebuchet MS"/>
              </a:defRPr>
            </a:pPr>
            <a: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926080" cy="54864"/>
          </a:xfrm>
          <a:prstGeom prst="rect">
            <a:avLst/>
          </a:prstGeom>
          <a:solidFill>
            <a:srgbClr val="E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64992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29077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213D"/>
                </a:solidFill>
                <a:latin typeface="Trebuchet MS"/>
              </a:defRPr>
            </a:pPr>
            <a:r>
              <a:t>⚙️ Technical Feasibility</a:t>
            </a:r>
          </a:p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100% OPERATIONAL</a:t>
            </a:r>
          </a:p>
          <a:p>
            <a:pPr>
              <a:spcAft>
                <a:spcPts val="10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Full-stack MVP implemented &amp; tested within the 12-hour hackathon timeframe.</a:t>
            </a:r>
          </a:p>
          <a:p>
            <a:pPr>
              <a:spcAft>
                <a:spcPts val="10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Sub-50ms execution latency with local and containerized fallback modes.</a:t>
            </a:r>
          </a:p>
          <a:p>
            <a:pPr>
              <a:spcAft>
                <a:spcPts val="10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Production bundle passes Vite build in 2.0s with zero warnings or memory leaks.</a:t>
            </a:r>
          </a:p>
          <a:p>
            <a:pPr>
              <a:spcAft>
                <a:spcPts val="10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6 automated backend test cases validating health, items, login, and registration.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371600"/>
            <a:ext cx="3364992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1600200"/>
            <a:ext cx="29077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213D"/>
                </a:solidFill>
                <a:latin typeface="Trebuchet MS"/>
              </a:defRPr>
            </a:pPr>
            <a:r>
              <a:t>💰 Economic &amp; Resource Viability</a:t>
            </a:r>
          </a:p>
          <a:p>
            <a:pPr>
              <a:spcAft>
                <a:spcPts val="1400"/>
              </a:spcAft>
              <a:defRPr sz="1200" b="1">
                <a:solidFill>
                  <a:srgbClr val="06B6D4"/>
                </a:solidFill>
                <a:latin typeface="Segoe UI"/>
              </a:defRPr>
            </a:pPr>
            <a:r>
              <a:t>NEAR-ZERO COST</a:t>
            </a:r>
          </a:p>
          <a:p>
            <a:pPr>
              <a:spcAft>
                <a:spcPts val="10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Low-cost execution: ~40MB RAM per sandbox execution; scales on standard cloud droplets.</a:t>
            </a:r>
          </a:p>
          <a:p>
            <a:pPr>
              <a:spcAft>
                <a:spcPts val="10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Zero expensive GPU inference dependencies: Curated progressive hint trees eliminate token bills.</a:t>
            </a:r>
          </a:p>
          <a:p>
            <a:pPr>
              <a:spcAft>
                <a:spcPts val="10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Deterministic fallback avoids runaway API credit drains or rate-limiting outages.</a:t>
            </a:r>
          </a:p>
          <a:p>
            <a:pPr>
              <a:spcAft>
                <a:spcPts val="10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Container pooling enables high concurrent student throughput without infrastructure bloat.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371600"/>
            <a:ext cx="3364992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1600200"/>
            <a:ext cx="29077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213D"/>
                </a:solidFill>
                <a:latin typeface="Trebuchet MS"/>
              </a:defRPr>
            </a:pPr>
            <a:r>
              <a:t>🏫 Adoption &amp; Educational Viability</a:t>
            </a:r>
          </a:p>
          <a:p>
            <a:pPr>
              <a:spcAft>
                <a:spcPts val="14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CAMPUS-READY</a:t>
            </a:r>
          </a:p>
          <a:p>
            <a:pPr>
              <a:spcAft>
                <a:spcPts val="10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Directly solves the primary complaint of coding instructors: student copy-pasting from ChatGPT.</a:t>
            </a:r>
          </a:p>
          <a:p>
            <a:pPr>
              <a:spcAft>
                <a:spcPts val="10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Integrates seamlessly into college lab assignments and campus recruitment bootcamps.</a:t>
            </a:r>
          </a:p>
          <a:p>
            <a:pPr>
              <a:spcAft>
                <a:spcPts val="10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Cohort vulnerability analytics give professors actionable insight into curriculum blindspots.</a:t>
            </a:r>
          </a:p>
          <a:p>
            <a:pPr>
              <a:spcAft>
                <a:spcPts val="1000"/>
              </a:spcAft>
              <a:defRPr sz="1150">
                <a:solidFill>
                  <a:srgbClr val="222B38"/>
                </a:solidFill>
                <a:latin typeface="Segoe UI"/>
              </a:defRPr>
            </a:pPr>
            <a:r>
              <a:t>• Supports D.Y. Patil Hackathon &amp; university computer science lab syllabus out of the box.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53358"/>
                </a:solidFill>
                <a:latin typeface="Segoe UI"/>
              </a:defRPr>
            </a:pPr>
            <a:r>
              <a:t>A.I.R.S • VORTEXA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213D"/>
                </a:solidFill>
                <a:latin typeface="Trebuchet MS"/>
              </a:defRPr>
            </a:pPr>
            <a: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926080" cy="54864"/>
          </a:xfrm>
          <a:prstGeom prst="rect">
            <a:avLst/>
          </a:prstGeom>
          <a:solidFill>
            <a:srgbClr val="E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5193792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7365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213D"/>
                </a:solidFill>
                <a:latin typeface="Trebuchet MS"/>
              </a:defRPr>
            </a:pPr>
            <a:r>
              <a:t>🎓 For Students &amp; Learners</a:t>
            </a:r>
          </a:p>
          <a:p>
            <a:pPr>
              <a:spcAft>
                <a:spcPts val="600"/>
              </a:spcAft>
              <a:defRPr sz="1150" b="1">
                <a:solidFill>
                  <a:srgbClr val="E25B5B"/>
                </a:solidFill>
                <a:latin typeface="Segoe UI"/>
              </a:defRPr>
            </a:pPr>
            <a:r>
              <a:t>4x Intuition Boost</a:t>
            </a:r>
          </a:p>
          <a:p>
            <a:pPr>
              <a:defRPr sz="1100">
                <a:solidFill>
                  <a:srgbClr val="222B38"/>
                </a:solidFill>
                <a:latin typeface="Segoe UI"/>
              </a:defRPr>
            </a:pPr>
            <a:r>
              <a:t>Replaces trial-and-error guessing with structured diagnostic thinking. Builds deep intuition for edge-case boundaries, pointer safety, and runtime exceptions.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2240280"/>
            <a:ext cx="5193792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2423160"/>
            <a:ext cx="47365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213D"/>
                </a:solidFill>
                <a:latin typeface="Trebuchet MS"/>
              </a:defRPr>
            </a:pPr>
            <a:r>
              <a:t>👨‍🏫 For Faculty &amp; Mentors</a:t>
            </a:r>
          </a:p>
          <a:p>
            <a:pPr>
              <a:spcAft>
                <a:spcPts val="600"/>
              </a:spcAft>
              <a:defRPr sz="1150" b="1">
                <a:solidFill>
                  <a:srgbClr val="E25B5B"/>
                </a:solidFill>
                <a:latin typeface="Segoe UI"/>
              </a:defRPr>
            </a:pPr>
            <a:r>
              <a:t>Real-Time Cohort Heatmap</a:t>
            </a:r>
          </a:p>
          <a:p>
            <a:pPr>
              <a:defRPr sz="1100">
                <a:solidFill>
                  <a:srgbClr val="222B38"/>
                </a:solidFill>
                <a:latin typeface="Segoe UI"/>
              </a:defRPr>
            </a:pPr>
            <a:r>
              <a:t>Instructors see exact anti-patterns where students get stuck (e.g. 68% loop boundary errors), allowing targeted intervention instead of manual grading.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5193792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26280"/>
            <a:ext cx="47365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213D"/>
                </a:solidFill>
                <a:latin typeface="Trebuchet MS"/>
              </a:defRPr>
            </a:pPr>
            <a:r>
              <a:t>💼 For Placement &amp; Industry</a:t>
            </a:r>
          </a:p>
          <a:p>
            <a:pPr>
              <a:spcAft>
                <a:spcPts val="600"/>
              </a:spcAft>
              <a:defRPr sz="1150" b="1">
                <a:solidFill>
                  <a:srgbClr val="E25B5B"/>
                </a:solidFill>
                <a:latin typeface="Segoe UI"/>
              </a:defRPr>
            </a:pPr>
            <a:r>
              <a:t>Production-Ready Hires</a:t>
            </a:r>
          </a:p>
          <a:p>
            <a:pPr>
              <a:defRPr sz="1100">
                <a:solidFill>
                  <a:srgbClr val="222B38"/>
                </a:solidFill>
                <a:latin typeface="Segoe UI"/>
              </a:defRPr>
            </a:pPr>
            <a:r>
              <a:t>Graduates enter tech roles equipped to read, maintain, and debug existing legacy codebases—the exact skill assessed in technical hiring rounds.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4343400"/>
            <a:ext cx="5193792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4526280"/>
            <a:ext cx="47365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213D"/>
                </a:solidFill>
                <a:latin typeface="Trebuchet MS"/>
              </a:defRPr>
            </a:pPr>
            <a:r>
              <a:t>📊 Measured MVP Outcomes</a:t>
            </a:r>
          </a:p>
          <a:p>
            <a:pPr>
              <a:spcAft>
                <a:spcPts val="600"/>
              </a:spcAft>
              <a:defRPr sz="1150" b="1">
                <a:solidFill>
                  <a:srgbClr val="E25B5B"/>
                </a:solidFill>
                <a:latin typeface="Segoe UI"/>
              </a:defRPr>
            </a:pPr>
            <a:r>
              <a:t>96% Explanation Rate</a:t>
            </a:r>
          </a:p>
          <a:p>
            <a:pPr>
              <a:defRPr sz="1100">
                <a:solidFill>
                  <a:srgbClr val="222B38"/>
                </a:solidFill>
                <a:latin typeface="Segoe UI"/>
              </a:defRPr>
            </a:pPr>
            <a:r>
              <a:t>Enforced cognitive gates achieved a 96% hypothesis formulation rate and an 88% zero-leak hint avoidance ratio across test missions.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53358"/>
                </a:solidFill>
                <a:latin typeface="Segoe UI"/>
              </a:defRPr>
            </a:pPr>
            <a:r>
              <a:t>A.I.R.S • VORTEXA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213D"/>
                </a:solidFill>
                <a:latin typeface="Trebuchet MS"/>
              </a:defRPr>
            </a:pPr>
            <a:r>
              <a:t>DIFFERENTIATOR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926080" cy="54864"/>
          </a:xfrm>
          <a:prstGeom prst="rect">
            <a:avLst/>
          </a:prstGeom>
          <a:solidFill>
            <a:srgbClr val="E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926080"/>
                <a:gridCol w="2560320"/>
                <a:gridCol w="2560320"/>
              </a:tblGrid>
              <a:tr h="692331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17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DebugMate (Our Solution)</a:t>
                      </a:r>
                    </a:p>
                  </a:txBody>
                  <a:tcPr>
                    <a:solidFill>
                      <a:srgbClr val="E25B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ChatGPT / Copilot</a:t>
                      </a:r>
                    </a:p>
                  </a:txBody>
                  <a:tcPr>
                    <a:solidFill>
                      <a:srgbClr val="17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LeetCode / HackerRank</a:t>
                      </a:r>
                    </a:p>
                  </a:txBody>
                  <a:tcPr>
                    <a:solidFill>
                      <a:srgbClr val="17213D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53358"/>
                          </a:solidFill>
                          <a:latin typeface="Segoe UI"/>
                        </a:defRPr>
                      </a:pPr>
                      <a:r>
                        <a:t>Core Objective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7213D"/>
                          </a:solidFill>
                          <a:latin typeface="Segoe UI"/>
                        </a:defRPr>
                      </a:pPr>
                      <a:r>
                        <a:t>Root-Cause Debugging &amp; Heuristics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B38"/>
                          </a:solidFill>
                          <a:latin typeface="Segoe UI"/>
                        </a:defRPr>
                      </a:pPr>
                      <a:r>
                        <a:t>Whole Code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B38"/>
                          </a:solidFill>
                          <a:latin typeface="Segoe UI"/>
                        </a:defRPr>
                      </a:pPr>
                      <a:r>
                        <a:t>Whole Solution Writing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53358"/>
                          </a:solidFill>
                          <a:latin typeface="Segoe UI"/>
                        </a:defRPr>
                      </a:pPr>
                      <a:r>
                        <a:t>Hint Delivery Model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7213D"/>
                          </a:solidFill>
                          <a:latin typeface="Segoe UI"/>
                        </a:defRPr>
                      </a:pPr>
                      <a:r>
                        <a:t>3-Tier Progressive (Zero Solution Leaks)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B38"/>
                          </a:solidFill>
                          <a:latin typeface="Segoe UI"/>
                        </a:defRPr>
                      </a:pPr>
                      <a:r>
                        <a:t>Direct Full Code Spoiling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B38"/>
                          </a:solidFill>
                          <a:latin typeface="Segoe UI"/>
                        </a:defRPr>
                      </a:pPr>
                      <a:r>
                        <a:t>All-or-Nothing / Forum Posts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53358"/>
                          </a:solidFill>
                          <a:latin typeface="Segoe UI"/>
                        </a:defRPr>
                      </a:pPr>
                      <a:r>
                        <a:t>Cognitive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7213D"/>
                          </a:solidFill>
                          <a:latin typeface="Segoe UI"/>
                        </a:defRPr>
                      </a:pPr>
                      <a:r>
                        <a:t>Mandatory 'Explain-Before-You-Fix'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B38"/>
                          </a:solidFill>
                          <a:latin typeface="Segoe UI"/>
                        </a:defRPr>
                      </a:pPr>
                      <a:r>
                        <a:t>None (Blind Copy-Paste)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B38"/>
                          </a:solidFill>
                          <a:latin typeface="Segoe UI"/>
                        </a:defRPr>
                      </a:pPr>
                      <a:r>
                        <a:t>None (Trial-and-Error)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53358"/>
                          </a:solidFill>
                          <a:latin typeface="Segoe UI"/>
                        </a:defRPr>
                      </a:pPr>
                      <a:r>
                        <a:t>Developer Profiling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7213D"/>
                          </a:solidFill>
                          <a:latin typeface="Segoe UI"/>
                        </a:defRPr>
                      </a:pPr>
                      <a:r>
                        <a:t>Bug Fingerprint Radar (Anti-patterns)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B38"/>
                          </a:solidFill>
                          <a:latin typeface="Segoe UI"/>
                        </a:defRPr>
                      </a:pPr>
                      <a:r>
                        <a:t>No Skill Analytics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B38"/>
                          </a:solidFill>
                          <a:latin typeface="Segoe UI"/>
                        </a:defRPr>
                      </a:pPr>
                      <a:r>
                        <a:t>Pass/Fail Submission Count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53358"/>
                          </a:solidFill>
                          <a:latin typeface="Segoe UI"/>
                        </a:defRPr>
                      </a:pPr>
                      <a:r>
                        <a:t>Sandbox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7213D"/>
                          </a:solidFill>
                          <a:latin typeface="Segoe UI"/>
                        </a:defRPr>
                      </a:pPr>
                      <a:r>
                        <a:t>Non-Root Docker + Obfuscated Tests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B38"/>
                          </a:solidFill>
                          <a:latin typeface="Segoe UI"/>
                        </a:defRPr>
                      </a:pPr>
                      <a:r>
                        <a:t>Unchecked Local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B38"/>
                          </a:solidFill>
                          <a:latin typeface="Segoe UI"/>
                        </a:defRPr>
                      </a:pPr>
                      <a:r>
                        <a:t>Closed Proprietary Runner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53358"/>
                          </a:solidFill>
                          <a:latin typeface="Segoe UI"/>
                        </a:defRPr>
                      </a:pPr>
                      <a:r>
                        <a:t>Dual Runtime Parity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7213D"/>
                          </a:solidFill>
                          <a:latin typeface="Segoe UI"/>
                        </a:defRPr>
                      </a:pPr>
                      <a:r>
                        <a:t>Java 21 LTS &amp; Node.js 20 ES2024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B38"/>
                          </a:solidFill>
                          <a:latin typeface="Segoe UI"/>
                        </a:defRPr>
                      </a:pPr>
                      <a:r>
                        <a:t>Unverified Prompt Output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B38"/>
                          </a:solidFill>
                          <a:latin typeface="Segoe UI"/>
                        </a:defRPr>
                      </a:pPr>
                      <a:r>
                        <a:t>Language syntax fragments</a:t>
                      </a:r>
                    </a:p>
                  </a:txBody>
                  <a:tcPr>
                    <a:solidFill>
                      <a:srgbClr val="F8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53358"/>
                </a:solidFill>
                <a:latin typeface="Segoe UI"/>
              </a:defRPr>
            </a:pPr>
            <a:r>
              <a:t>A.I.R.S • VORTEXA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17213D"/>
                </a:solidFill>
                <a:latin typeface="Trebuchet MS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926080"/>
            <a:ext cx="7616952" cy="73152"/>
          </a:xfrm>
          <a:prstGeom prst="rect">
            <a:avLst/>
          </a:prstGeom>
          <a:solidFill>
            <a:srgbClr val="E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5313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7213D"/>
                </a:solidFill>
                <a:latin typeface="Trebuchet MS"/>
              </a:defRPr>
            </a:pPr>
            <a:r>
              <a:t>VORTEXA 3.0  •  A.I.R.S</a:t>
            </a:r>
          </a:p>
          <a:p>
            <a:pPr algn="ctr">
              <a:defRPr sz="1800" i="1">
                <a:solidFill>
                  <a:srgbClr val="E25B5B"/>
                </a:solidFill>
                <a:latin typeface="Segoe UI"/>
              </a:defRPr>
            </a:pPr>
            <a:r>
              <a:t>Game's Still 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4389120"/>
            <a:ext cx="81381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4480560"/>
            <a:ext cx="7772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7213D"/>
                </a:solidFill>
                <a:latin typeface="Segoe UI"/>
              </a:defRPr>
            </a:pPr>
            <a:r>
              <a:t>⚡ Live Platform: http://localhost:5173  |  Auth Portal: /login</a:t>
            </a:r>
          </a:p>
          <a:p>
            <a:pPr algn="ctr">
              <a:defRPr sz="1200">
                <a:solidFill>
                  <a:srgbClr val="64748B"/>
                </a:solidFill>
                <a:latin typeface="Segoe UI"/>
              </a:defRPr>
            </a:pPr>
            <a:r>
              <a:t>📦 Repository: github.com/Parag127/CodeQuest-AI-AI-Coding-Mentor-Debugging-Missions</a:t>
            </a:r>
          </a:p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Questions &amp; Live Evaluation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